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B5DD79-6922-48E7-AFC5-589E2CE66B78}">
  <a:tblStyle styleId="{C9B5DD79-6922-48E7-AFC5-589E2CE66B7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38b3f1bb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f538b3f1bb_2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g3f538b3f1bb_2_75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Title of the Project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538b3f1bb_2_85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f538b3f1bb_2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538b3f1bb_2_95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f538b3f1bb_2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538b3f1bb_2_104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f538b3f1bb_2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538b3f1bb_2_114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f538b3f1bb_2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538b3f1bb_2_124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f538b3f1bb_2_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538b3f1bb_2_133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f538b3f1bb_2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538b3f1bb_2_143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f538b3f1bb_2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538b3f1bb_2_153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f538b3f1bb_2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538b3f1bb_2_163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f538b3f1bb_2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538b3f1bb_2_173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f538b3f1bb_2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538b3f1bb_2_1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g3f538b3f1bb_2_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476250" y="381000"/>
            <a:ext cx="6191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Trebuchet MS"/>
                <a:ea typeface="Trebuchet MS"/>
                <a:cs typeface="Trebuchet MS"/>
                <a:sym typeface="Trebuchet MS"/>
              </a:rPr>
              <a:t>Center for Data Science and Applied Machine Learning</a:t>
            </a:r>
            <a:endParaRPr b="1" sz="1400">
              <a:solidFill>
                <a:srgbClr val="ED7D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75569"/>
                </a:solidFill>
                <a:latin typeface="Trebuchet MS"/>
                <a:ea typeface="Trebuchet MS"/>
                <a:cs typeface="Trebuchet MS"/>
                <a:sym typeface="Trebuchet MS"/>
              </a:rPr>
              <a:t>&amp; Cloud Computing and Big Data (CDSAML &amp; CCBD)</a:t>
            </a:r>
            <a:endParaRPr b="1" sz="1200">
              <a:solidFill>
                <a:srgbClr val="47556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rPr>
              <a:t>Internship, June – July, 2026</a:t>
            </a:r>
            <a:endParaRPr b="0" sz="1100">
              <a:solidFill>
                <a:srgbClr val="64748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76250" y="1524000"/>
            <a:ext cx="81915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Adaptive-IPI: A Teacher-Guided Adaptive Curriculum for Lightweight Indirect Prompt Injection Detection in AI Email Assistants</a:t>
            </a:r>
            <a:endParaRPr b="0" sz="2300">
              <a:solidFill>
                <a:srgbClr val="0F172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87" name="Google Shape;87;p13"/>
          <p:cNvCxnSpPr/>
          <p:nvPr/>
        </p:nvCxnSpPr>
        <p:spPr>
          <a:xfrm>
            <a:off x="476250" y="3000375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8" name="Google Shape;88;p13"/>
          <p:cNvPicPr preferRelativeResize="0"/>
          <p:nvPr/>
        </p:nvPicPr>
        <p:blipFill rotWithShape="1">
          <a:blip r:embed="rId4">
            <a:alphaModFix/>
          </a:blip>
          <a:srcRect b="40" l="0" r="0" t="50"/>
          <a:stretch/>
        </p:blipFill>
        <p:spPr>
          <a:xfrm>
            <a:off x="6953250" y="285750"/>
            <a:ext cx="1714500" cy="8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476250" y="3286125"/>
            <a:ext cx="40005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D7D3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</a:t>
            </a:r>
            <a:endParaRPr b="0" sz="1000">
              <a:solidFill>
                <a:srgbClr val="ED7D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Subramani B M </a:t>
            </a:r>
            <a:r>
              <a:rPr b="0" lang="en" sz="105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rPr>
              <a:t>(PES1UG24CS473)</a:t>
            </a:r>
            <a:endParaRPr b="1" sz="1200">
              <a:solidFill>
                <a:srgbClr val="1E293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Sudeeksh Nayak </a:t>
            </a:r>
            <a:r>
              <a:rPr b="0" lang="en" sz="105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rPr>
              <a:t>(PES1UG24CS474)</a:t>
            </a:r>
            <a:endParaRPr b="1" sz="1200">
              <a:solidFill>
                <a:srgbClr val="1E293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Ahidwish Javali </a:t>
            </a:r>
            <a:r>
              <a:rPr b="0" lang="en" sz="105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rPr>
              <a:t>(PES1UG24CS037)</a:t>
            </a:r>
            <a:endParaRPr b="1" sz="1200">
              <a:solidFill>
                <a:srgbClr val="1E293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953000" y="3286125"/>
            <a:ext cx="37149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D7D3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</a:t>
            </a:r>
            <a:endParaRPr b="0" sz="1000">
              <a:solidFill>
                <a:srgbClr val="ED7D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Dr. </a:t>
            </a:r>
            <a:r>
              <a:rPr b="1" lang="en" sz="13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Bhargavi Mokashi</a:t>
            </a:r>
            <a:endParaRPr b="1" sz="1300">
              <a:solidFill>
                <a:srgbClr val="1E293B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rPr>
              <a:t>Designation: Associate Professor, Dept of CSE</a:t>
            </a:r>
            <a:endParaRPr b="0" sz="1100">
              <a:solidFill>
                <a:srgbClr val="64748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19982" y="428475"/>
            <a:ext cx="1347668" cy="621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lang="en" sz="3000">
                <a:solidFill>
                  <a:schemeClr val="accent5"/>
                </a:solidFill>
              </a:rPr>
              <a:t>Outline</a:t>
            </a:r>
            <a:endParaRPr b="1">
              <a:solidFill>
                <a:schemeClr val="accent5"/>
              </a:solidFill>
            </a:endParaRPr>
          </a:p>
        </p:txBody>
      </p:sp>
      <p:grpSp>
        <p:nvGrpSpPr>
          <p:cNvPr id="97" name="Google Shape;97;p14"/>
          <p:cNvGrpSpPr/>
          <p:nvPr/>
        </p:nvGrpSpPr>
        <p:grpSpPr>
          <a:xfrm>
            <a:off x="628650" y="1524000"/>
            <a:ext cx="7886850" cy="2743200"/>
            <a:chOff x="628650" y="1524000"/>
            <a:chExt cx="7886850" cy="2743200"/>
          </a:xfrm>
        </p:grpSpPr>
        <p:grpSp>
          <p:nvGrpSpPr>
            <p:cNvPr id="98" name="Google Shape;98;p14"/>
            <p:cNvGrpSpPr/>
            <p:nvPr/>
          </p:nvGrpSpPr>
          <p:grpSpPr>
            <a:xfrm>
              <a:off x="628650" y="1524000"/>
              <a:ext cx="3714900" cy="457200"/>
              <a:chOff x="0" y="0"/>
              <a:chExt cx="3714900" cy="457200"/>
            </a:xfrm>
          </p:grpSpPr>
          <p:sp>
            <p:nvSpPr>
              <p:cNvPr id="99" name="Google Shape;99;p14"/>
              <p:cNvSpPr/>
              <p:nvPr/>
            </p:nvSpPr>
            <p:spPr>
              <a:xfrm>
                <a:off x="0" y="0"/>
                <a:ext cx="37149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4"/>
              <p:cNvSpPr txBox="1"/>
              <p:nvPr/>
            </p:nvSpPr>
            <p:spPr>
              <a:xfrm>
                <a:off x="0" y="0"/>
                <a:ext cx="3714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5240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ED7D31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01 </a:t>
                </a:r>
                <a:r>
                  <a:rPr b="1" lang="en" sz="1300">
                    <a:solidFill>
                      <a:srgbClr val="0F172A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Problem Statement</a:t>
                </a:r>
                <a:endParaRPr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grpSp>
          <p:nvGrpSpPr>
            <p:cNvPr id="101" name="Google Shape;101;p14"/>
            <p:cNvGrpSpPr/>
            <p:nvPr/>
          </p:nvGrpSpPr>
          <p:grpSpPr>
            <a:xfrm>
              <a:off x="628650" y="2095500"/>
              <a:ext cx="3714900" cy="457200"/>
              <a:chOff x="0" y="0"/>
              <a:chExt cx="3714900" cy="457200"/>
            </a:xfrm>
          </p:grpSpPr>
          <p:sp>
            <p:nvSpPr>
              <p:cNvPr id="102" name="Google Shape;102;p14"/>
              <p:cNvSpPr/>
              <p:nvPr/>
            </p:nvSpPr>
            <p:spPr>
              <a:xfrm>
                <a:off x="0" y="0"/>
                <a:ext cx="37149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4"/>
              <p:cNvSpPr txBox="1"/>
              <p:nvPr/>
            </p:nvSpPr>
            <p:spPr>
              <a:xfrm>
                <a:off x="0" y="0"/>
                <a:ext cx="3714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5240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ED7D31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02 </a:t>
                </a:r>
                <a:r>
                  <a:rPr b="1" lang="en" sz="1300">
                    <a:solidFill>
                      <a:srgbClr val="0F172A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Abstract and Scope</a:t>
                </a:r>
                <a:endParaRPr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grpSp>
          <p:nvGrpSpPr>
            <p:cNvPr id="104" name="Google Shape;104;p14"/>
            <p:cNvGrpSpPr/>
            <p:nvPr/>
          </p:nvGrpSpPr>
          <p:grpSpPr>
            <a:xfrm>
              <a:off x="628650" y="2667000"/>
              <a:ext cx="3714900" cy="457200"/>
              <a:chOff x="0" y="0"/>
              <a:chExt cx="3714900" cy="457200"/>
            </a:xfrm>
          </p:grpSpPr>
          <p:sp>
            <p:nvSpPr>
              <p:cNvPr id="105" name="Google Shape;105;p14"/>
              <p:cNvSpPr/>
              <p:nvPr/>
            </p:nvSpPr>
            <p:spPr>
              <a:xfrm>
                <a:off x="0" y="0"/>
                <a:ext cx="37149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4"/>
              <p:cNvSpPr txBox="1"/>
              <p:nvPr/>
            </p:nvSpPr>
            <p:spPr>
              <a:xfrm>
                <a:off x="0" y="0"/>
                <a:ext cx="3714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5240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ED7D31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03 </a:t>
                </a:r>
                <a:r>
                  <a:rPr b="1" lang="en" sz="1300">
                    <a:solidFill>
                      <a:srgbClr val="0F172A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Literature Survey</a:t>
                </a:r>
                <a:endParaRPr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grpSp>
          <p:nvGrpSpPr>
            <p:cNvPr id="107" name="Google Shape;107;p14"/>
            <p:cNvGrpSpPr/>
            <p:nvPr/>
          </p:nvGrpSpPr>
          <p:grpSpPr>
            <a:xfrm>
              <a:off x="628650" y="3238500"/>
              <a:ext cx="3714900" cy="457200"/>
              <a:chOff x="0" y="0"/>
              <a:chExt cx="3714900" cy="457200"/>
            </a:xfrm>
          </p:grpSpPr>
          <p:sp>
            <p:nvSpPr>
              <p:cNvPr id="108" name="Google Shape;108;p14"/>
              <p:cNvSpPr/>
              <p:nvPr/>
            </p:nvSpPr>
            <p:spPr>
              <a:xfrm>
                <a:off x="0" y="0"/>
                <a:ext cx="37149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4"/>
              <p:cNvSpPr txBox="1"/>
              <p:nvPr/>
            </p:nvSpPr>
            <p:spPr>
              <a:xfrm>
                <a:off x="0" y="0"/>
                <a:ext cx="3714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5240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ED7D31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04 </a:t>
                </a:r>
                <a:r>
                  <a:rPr b="1" lang="en" sz="1300">
                    <a:solidFill>
                      <a:srgbClr val="0F172A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Methodology / Approach</a:t>
                </a:r>
                <a:endParaRPr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grpSp>
          <p:nvGrpSpPr>
            <p:cNvPr id="110" name="Google Shape;110;p14"/>
            <p:cNvGrpSpPr/>
            <p:nvPr/>
          </p:nvGrpSpPr>
          <p:grpSpPr>
            <a:xfrm>
              <a:off x="628650" y="3810000"/>
              <a:ext cx="3714900" cy="457200"/>
              <a:chOff x="0" y="0"/>
              <a:chExt cx="3714900" cy="457200"/>
            </a:xfrm>
          </p:grpSpPr>
          <p:sp>
            <p:nvSpPr>
              <p:cNvPr id="111" name="Google Shape;111;p14"/>
              <p:cNvSpPr/>
              <p:nvPr/>
            </p:nvSpPr>
            <p:spPr>
              <a:xfrm>
                <a:off x="0" y="0"/>
                <a:ext cx="37149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4"/>
              <p:cNvSpPr txBox="1"/>
              <p:nvPr/>
            </p:nvSpPr>
            <p:spPr>
              <a:xfrm>
                <a:off x="0" y="0"/>
                <a:ext cx="3714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5240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ED7D31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05 </a:t>
                </a:r>
                <a:r>
                  <a:rPr b="1" lang="en" sz="1300">
                    <a:solidFill>
                      <a:srgbClr val="0F172A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Architecture</a:t>
                </a:r>
                <a:endParaRPr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grpSp>
          <p:nvGrpSpPr>
            <p:cNvPr id="113" name="Google Shape;113;p14"/>
            <p:cNvGrpSpPr/>
            <p:nvPr/>
          </p:nvGrpSpPr>
          <p:grpSpPr>
            <a:xfrm>
              <a:off x="4800600" y="1524000"/>
              <a:ext cx="3714900" cy="457200"/>
              <a:chOff x="0" y="0"/>
              <a:chExt cx="3714900" cy="457200"/>
            </a:xfrm>
          </p:grpSpPr>
          <p:sp>
            <p:nvSpPr>
              <p:cNvPr id="114" name="Google Shape;114;p14"/>
              <p:cNvSpPr/>
              <p:nvPr/>
            </p:nvSpPr>
            <p:spPr>
              <a:xfrm>
                <a:off x="0" y="0"/>
                <a:ext cx="37149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4"/>
              <p:cNvSpPr txBox="1"/>
              <p:nvPr/>
            </p:nvSpPr>
            <p:spPr>
              <a:xfrm>
                <a:off x="0" y="0"/>
                <a:ext cx="3714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5240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4472C4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06 </a:t>
                </a:r>
                <a:r>
                  <a:rPr b="1" lang="en" sz="1300">
                    <a:solidFill>
                      <a:srgbClr val="0F172A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Datasets used</a:t>
                </a:r>
                <a:endParaRPr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grpSp>
          <p:nvGrpSpPr>
            <p:cNvPr id="116" name="Google Shape;116;p14"/>
            <p:cNvGrpSpPr/>
            <p:nvPr/>
          </p:nvGrpSpPr>
          <p:grpSpPr>
            <a:xfrm>
              <a:off x="4800600" y="2095500"/>
              <a:ext cx="3714900" cy="457200"/>
              <a:chOff x="0" y="0"/>
              <a:chExt cx="3714900" cy="457200"/>
            </a:xfrm>
          </p:grpSpPr>
          <p:sp>
            <p:nvSpPr>
              <p:cNvPr id="117" name="Google Shape;117;p14"/>
              <p:cNvSpPr/>
              <p:nvPr/>
            </p:nvSpPr>
            <p:spPr>
              <a:xfrm>
                <a:off x="0" y="0"/>
                <a:ext cx="37149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4"/>
              <p:cNvSpPr txBox="1"/>
              <p:nvPr/>
            </p:nvSpPr>
            <p:spPr>
              <a:xfrm>
                <a:off x="0" y="0"/>
                <a:ext cx="3714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5240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4472C4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07 </a:t>
                </a:r>
                <a:r>
                  <a:rPr b="1" lang="en" sz="1300">
                    <a:solidFill>
                      <a:srgbClr val="0F172A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Technologies used</a:t>
                </a:r>
                <a:endParaRPr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4800600" y="2667000"/>
              <a:ext cx="3714900" cy="457200"/>
              <a:chOff x="0" y="0"/>
              <a:chExt cx="3714900" cy="457200"/>
            </a:xfrm>
          </p:grpSpPr>
          <p:sp>
            <p:nvSpPr>
              <p:cNvPr id="120" name="Google Shape;120;p14"/>
              <p:cNvSpPr/>
              <p:nvPr/>
            </p:nvSpPr>
            <p:spPr>
              <a:xfrm>
                <a:off x="0" y="0"/>
                <a:ext cx="37149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4"/>
              <p:cNvSpPr txBox="1"/>
              <p:nvPr/>
            </p:nvSpPr>
            <p:spPr>
              <a:xfrm>
                <a:off x="0" y="0"/>
                <a:ext cx="3714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5240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4472C4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08 </a:t>
                </a:r>
                <a:r>
                  <a:rPr b="1" lang="en" sz="1300">
                    <a:solidFill>
                      <a:srgbClr val="0F172A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Results</a:t>
                </a:r>
                <a:endParaRPr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grpSp>
          <p:nvGrpSpPr>
            <p:cNvPr id="122" name="Google Shape;122;p14"/>
            <p:cNvGrpSpPr/>
            <p:nvPr/>
          </p:nvGrpSpPr>
          <p:grpSpPr>
            <a:xfrm>
              <a:off x="4800600" y="3238500"/>
              <a:ext cx="3714900" cy="457200"/>
              <a:chOff x="0" y="0"/>
              <a:chExt cx="3714900" cy="457200"/>
            </a:xfrm>
          </p:grpSpPr>
          <p:sp>
            <p:nvSpPr>
              <p:cNvPr id="123" name="Google Shape;123;p14"/>
              <p:cNvSpPr/>
              <p:nvPr/>
            </p:nvSpPr>
            <p:spPr>
              <a:xfrm>
                <a:off x="0" y="0"/>
                <a:ext cx="37149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4"/>
              <p:cNvSpPr txBox="1"/>
              <p:nvPr/>
            </p:nvSpPr>
            <p:spPr>
              <a:xfrm>
                <a:off x="0" y="0"/>
                <a:ext cx="3714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5240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4472C4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09 </a:t>
                </a:r>
                <a:r>
                  <a:rPr b="1" lang="en" sz="1300">
                    <a:solidFill>
                      <a:srgbClr val="0F172A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Conclusion and Future Work</a:t>
                </a:r>
                <a:endParaRPr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grpSp>
          <p:nvGrpSpPr>
            <p:cNvPr id="125" name="Google Shape;125;p14"/>
            <p:cNvGrpSpPr/>
            <p:nvPr/>
          </p:nvGrpSpPr>
          <p:grpSpPr>
            <a:xfrm>
              <a:off x="4800600" y="3810000"/>
              <a:ext cx="3714900" cy="457200"/>
              <a:chOff x="0" y="0"/>
              <a:chExt cx="3714900" cy="457200"/>
            </a:xfrm>
          </p:grpSpPr>
          <p:sp>
            <p:nvSpPr>
              <p:cNvPr id="126" name="Google Shape;126;p14"/>
              <p:cNvSpPr/>
              <p:nvPr/>
            </p:nvSpPr>
            <p:spPr>
              <a:xfrm>
                <a:off x="0" y="0"/>
                <a:ext cx="37149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4"/>
              <p:cNvSpPr txBox="1"/>
              <p:nvPr/>
            </p:nvSpPr>
            <p:spPr>
              <a:xfrm>
                <a:off x="0" y="0"/>
                <a:ext cx="3714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5240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4472C4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10 </a:t>
                </a:r>
                <a:r>
                  <a:rPr b="1" lang="en" sz="1300">
                    <a:solidFill>
                      <a:srgbClr val="0F172A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References</a:t>
                </a:r>
                <a:endParaRPr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sp>
        <p:nvSpPr>
          <p:cNvPr id="128" name="Google Shape;128;p14"/>
          <p:cNvSpPr txBox="1"/>
          <p:nvPr>
            <p:ph idx="11" type="ftr"/>
          </p:nvPr>
        </p:nvSpPr>
        <p:spPr>
          <a:xfrm>
            <a:off x="3166110" y="188228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chemeClr val="accent2"/>
                </a:solidFill>
              </a:rPr>
              <a:t>CDSAML &amp; CCBD</a:t>
            </a:r>
            <a:endParaRPr b="1" sz="1800">
              <a:solidFill>
                <a:schemeClr val="accent2"/>
              </a:solidFill>
            </a:endParaRPr>
          </a:p>
        </p:txBody>
      </p:sp>
      <p:sp>
        <p:nvSpPr>
          <p:cNvPr id="129" name="Google Shape;129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251350" y="-490700"/>
            <a:ext cx="30339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 Project</a:t>
            </a:r>
            <a:endParaRPr b="0" i="0" sz="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Jan_may_2024\club\PES University - Logo - NEW.jpg" id="131" name="Google Shape;1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213" y="0"/>
            <a:ext cx="1202787" cy="61664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0" y="0"/>
            <a:ext cx="4674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Adaptive-IPI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7482" y="-2375"/>
            <a:ext cx="1347668" cy="621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C:\Jan_may_2024\club\PES University - Logo - NEW.jpg" id="139" name="Google Shape;1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213" y="0"/>
            <a:ext cx="1202787" cy="61664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3166110" y="188228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CDSAML &amp; CCBD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15"/>
          <p:cNvGrpSpPr/>
          <p:nvPr/>
        </p:nvGrpSpPr>
        <p:grpSpPr>
          <a:xfrm>
            <a:off x="476250" y="952500"/>
            <a:ext cx="8172600" cy="3810000"/>
            <a:chOff x="476250" y="952500"/>
            <a:chExt cx="8172600" cy="3810000"/>
          </a:xfrm>
        </p:grpSpPr>
        <p:grpSp>
          <p:nvGrpSpPr>
            <p:cNvPr id="142" name="Google Shape;142;p15"/>
            <p:cNvGrpSpPr/>
            <p:nvPr/>
          </p:nvGrpSpPr>
          <p:grpSpPr>
            <a:xfrm>
              <a:off x="476250" y="952500"/>
              <a:ext cx="2571900" cy="3810000"/>
              <a:chOff x="0" y="0"/>
              <a:chExt cx="2571900" cy="3810000"/>
            </a:xfrm>
          </p:grpSpPr>
          <p:sp>
            <p:nvSpPr>
              <p:cNvPr id="143" name="Google Shape;143;p15"/>
              <p:cNvSpPr/>
              <p:nvPr/>
            </p:nvSpPr>
            <p:spPr>
              <a:xfrm>
                <a:off x="0" y="0"/>
                <a:ext cx="2571900" cy="3810000"/>
              </a:xfrm>
              <a:prstGeom prst="roundRect">
                <a:avLst>
                  <a:gd fmla="val 2962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5"/>
              <p:cNvSpPr txBox="1"/>
              <p:nvPr/>
            </p:nvSpPr>
            <p:spPr>
              <a:xfrm>
                <a:off x="0" y="0"/>
                <a:ext cx="2571900" cy="38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ED7D31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Problem Statement</a:t>
                </a:r>
                <a:endParaRPr b="1" sz="13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Large Language Models (LLMs) are increasingly vulnerable to </a:t>
                </a:r>
                <a:r>
                  <a:rPr b="1"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Indirect Prompt Injection (IPI)</a:t>
                </a:r>
                <a:r>
                  <a:rPr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 attacks, where malicious instructions embedded within external content manipulate the model. Existing defenses rely on large, expensive models, making real-time deployment impractical.</a:t>
                </a:r>
                <a:endParaRPr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ED7D31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Context</a:t>
                </a:r>
                <a:endParaRPr b="1" sz="13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With rapid adoption of AI assistants in email clients, enterprise systems, and autonomous agents, lightweight yet robust IPI detection has become essential for secure, scalable, and cost-effective deployment.</a:t>
                </a:r>
                <a:endParaRPr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" name="Google Shape;145;p15"/>
            <p:cNvGrpSpPr/>
            <p:nvPr/>
          </p:nvGrpSpPr>
          <p:grpSpPr>
            <a:xfrm>
              <a:off x="3276600" y="952500"/>
              <a:ext cx="2571900" cy="3810000"/>
              <a:chOff x="0" y="0"/>
              <a:chExt cx="2571900" cy="3810000"/>
            </a:xfrm>
          </p:grpSpPr>
          <p:sp>
            <p:nvSpPr>
              <p:cNvPr id="146" name="Google Shape;146;p15"/>
              <p:cNvSpPr/>
              <p:nvPr/>
            </p:nvSpPr>
            <p:spPr>
              <a:xfrm>
                <a:off x="0" y="0"/>
                <a:ext cx="2571900" cy="3810000"/>
              </a:xfrm>
              <a:prstGeom prst="roundRect">
                <a:avLst>
                  <a:gd fmla="val 2962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5"/>
              <p:cNvSpPr txBox="1"/>
              <p:nvPr/>
            </p:nvSpPr>
            <p:spPr>
              <a:xfrm>
                <a:off x="0" y="0"/>
                <a:ext cx="2571900" cy="38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ED7D31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Project Overview &amp; Scope</a:t>
                </a:r>
                <a:endParaRPr b="1" sz="13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This project proposes </a:t>
                </a:r>
                <a:r>
                  <a:rPr b="1"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Adaptive-IPI</a:t>
                </a:r>
                <a:r>
                  <a:rPr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, a lightweight framework using an offline teacher LLM to generate targeted adversarial samples, enabling a compact student model (ModernBERT) to improve robustness with efficient inference.</a:t>
                </a:r>
                <a:endParaRPr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ED7D31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Objective</a:t>
                </a:r>
                <a:endParaRPr b="1" sz="13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-2921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334155"/>
                  </a:buClr>
                  <a:buSzPts val="1000"/>
                  <a:buFont typeface="Arial"/>
                  <a:buChar char="●"/>
                </a:pPr>
                <a:r>
                  <a:rPr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Develop an efficient and deployable IPI detection system.</a:t>
                </a:r>
                <a:endParaRPr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921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334155"/>
                  </a:buClr>
                  <a:buSzPts val="1000"/>
                  <a:buFont typeface="Arial"/>
                  <a:buChar char="●"/>
                </a:pPr>
                <a:r>
                  <a:rPr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Improve robustness against unseen adversarial attacks.</a:t>
                </a:r>
                <a:endParaRPr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921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334155"/>
                  </a:buClr>
                  <a:buSzPts val="1000"/>
                  <a:buFont typeface="Arial"/>
                  <a:buChar char="●"/>
                </a:pPr>
                <a:r>
                  <a:rPr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Achieve strong detection performance without relying on large LLMs during inference.</a:t>
                </a:r>
                <a:endParaRPr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" name="Google Shape;148;p15"/>
            <p:cNvGrpSpPr/>
            <p:nvPr/>
          </p:nvGrpSpPr>
          <p:grpSpPr>
            <a:xfrm>
              <a:off x="6076950" y="952500"/>
              <a:ext cx="2571900" cy="3810000"/>
              <a:chOff x="0" y="0"/>
              <a:chExt cx="2571900" cy="3810000"/>
            </a:xfrm>
          </p:grpSpPr>
          <p:sp>
            <p:nvSpPr>
              <p:cNvPr id="149" name="Google Shape;149;p15"/>
              <p:cNvSpPr/>
              <p:nvPr/>
            </p:nvSpPr>
            <p:spPr>
              <a:xfrm>
                <a:off x="0" y="0"/>
                <a:ext cx="2571900" cy="3810000"/>
              </a:xfrm>
              <a:prstGeom prst="roundRect">
                <a:avLst>
                  <a:gd fmla="val 2962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5"/>
              <p:cNvSpPr txBox="1"/>
              <p:nvPr/>
            </p:nvSpPr>
            <p:spPr>
              <a:xfrm>
                <a:off x="0" y="0"/>
                <a:ext cx="2571900" cy="38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ED7D31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Adopted Approach</a:t>
                </a:r>
                <a:endParaRPr b="1" sz="13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-2921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334155"/>
                  </a:buClr>
                  <a:buSzPts val="1000"/>
                  <a:buFont typeface="Arial"/>
                  <a:buChar char="●"/>
                </a:pPr>
                <a:r>
                  <a:rPr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Train a lightweight ModernBERT detector on the BIPIA dataset.</a:t>
                </a:r>
                <a:endParaRPr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921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334155"/>
                  </a:buClr>
                  <a:buSzPts val="1000"/>
                  <a:buFont typeface="Arial"/>
                  <a:buChar char="●"/>
                </a:pPr>
                <a:r>
                  <a:rPr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Analyze model failures to identify weak cases.</a:t>
                </a:r>
                <a:endParaRPr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921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334155"/>
                  </a:buClr>
                  <a:buSzPts val="1000"/>
                  <a:buFont typeface="Arial"/>
                  <a:buChar char="●"/>
                </a:pPr>
                <a:r>
                  <a:rPr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Use a teacher LLM to generate adversarial curriculum samples.</a:t>
                </a:r>
                <a:endParaRPr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921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334155"/>
                  </a:buClr>
                  <a:buSzPts val="1000"/>
                  <a:buFont typeface="Arial"/>
                  <a:buChar char="●"/>
                </a:pPr>
                <a:r>
                  <a:rPr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Retrain the student model with the adaptive curriculum and evaluate improvements using AUROC, F1-score, Precision, Recall, and Calibration.</a:t>
                </a:r>
                <a:endParaRPr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1" name="Google Shape;151;p15"/>
          <p:cNvSpPr txBox="1"/>
          <p:nvPr/>
        </p:nvSpPr>
        <p:spPr>
          <a:xfrm>
            <a:off x="0" y="0"/>
            <a:ext cx="4674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 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0" y="0"/>
            <a:ext cx="4674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Adaptive-IPI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3557" y="-2375"/>
            <a:ext cx="1347668" cy="621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/>
        </p:nvSpPr>
        <p:spPr>
          <a:xfrm>
            <a:off x="1228725" y="1885950"/>
            <a:ext cx="668655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" name="Google Shape;159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C:\Jan_may_2024\club\PES University - Logo - NEW.jpg" id="160" name="Google Shape;1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213" y="0"/>
            <a:ext cx="1202787" cy="61664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284119" y="408844"/>
            <a:ext cx="78867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Calibri"/>
              <a:buNone/>
            </a:pPr>
            <a:r>
              <a:rPr b="1" i="0" lang="en" sz="3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b="1" i="0" sz="33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3166110" y="18822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CDSAML &amp; CCBD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3" name="Google Shape;163;p16"/>
          <p:cNvGraphicFramePr/>
          <p:nvPr/>
        </p:nvGraphicFramePr>
        <p:xfrm>
          <a:off x="487519" y="9054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{C9B5DD79-6922-48E7-AFC5-589E2CE66B78}</a:tableStyleId>
              </a:tblPr>
              <a:tblGrid>
                <a:gridCol w="2006950"/>
                <a:gridCol w="2006950"/>
                <a:gridCol w="2006950"/>
                <a:gridCol w="2006950"/>
              </a:tblGrid>
              <a:tr h="42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Paper</a:t>
                      </a:r>
                      <a:endParaRPr b="1" sz="8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Methodology</a:t>
                      </a:r>
                      <a:endParaRPr b="1" sz="8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Limitations / Gap</a:t>
                      </a:r>
                      <a:endParaRPr b="1" sz="8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Relevance to Our Work</a:t>
                      </a:r>
                      <a:endParaRPr b="1" sz="8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</a:tr>
              <a:tr h="59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600" u="none" cap="none" strike="noStrike">
                          <a:solidFill>
                            <a:srgbClr val="0033CC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Can Indirect Prompt Injection Attacks Be Detected and Removed? (ACL 2025)</a:t>
                      </a:r>
                      <a:endParaRPr b="1" sz="600" u="none" cap="none" strike="noStrike">
                        <a:solidFill>
                          <a:srgbClr val="0033CC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68575" marB="68575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Lightweight DeBERTa/Qwen2 classifiers with detection and removal pipeline.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68575" marB="68575" marR="68575" marL="68575"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Uses standard supervised classification; suffers from over-defense and lacks reasoning-guided learning.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68575" marB="68575" marR="68575" marL="68575"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600" u="none" cap="none" strike="noStrike">
                          <a:solidFill>
                            <a:srgbClr val="0033CC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Closest prior work.</a:t>
                      </a: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Motivates lightweight IPI detection. Our work replaces standard supervision with reasoning-guided distillation.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68575" marB="68575" marR="68575" marL="68575"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600" u="none" cap="none" strike="noStrike">
                          <a:solidFill>
                            <a:srgbClr val="10B98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PIGuard (ACL 2025)</a:t>
                      </a:r>
                      <a:endParaRPr b="1" sz="600" u="none" cap="none" strike="noStrike">
                        <a:solidFill>
                          <a:srgbClr val="10B98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DeBERTa-based prompt guard using MOF training to reduce over-defense.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Conventional classification without reasoning or knowledge distillation.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" sz="600" u="none" cap="none" strike="noStrike">
                          <a:solidFill>
                            <a:srgbClr val="10B98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Strong lightweight baseline.</a:t>
                      </a: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Our work investigates whether reasoning supervision improves detection.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" sz="600" u="none" cap="none" strike="noStrike">
                          <a:solidFill>
                            <a:srgbClr val="10B98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Performance-Guided LLM Knowledge Distillation for Efficient Text Classification at Scale (EMNLP 2024) </a:t>
                      </a:r>
                      <a:endParaRPr b="1" sz="600" u="none" cap="none" strike="noStrike">
                        <a:solidFill>
                          <a:srgbClr val="10B98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Uses a teacher LLM to generate hard examples for iterative curriculum learning and retrains a lightweight student model. 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Designed for general text classification and does not address indirect prompt injection attacks or LLM security. 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We extend PGKD by applying adaptive curriculum learning to lightweight indirect prompt injection detection using ModernBERT. 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Attention is All You Need to Defend Against INdirect Prompt Injection Attacks in LLMS (NDSS 2026)</a:t>
                      </a:r>
                      <a:endParaRPr b="1"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Attention-based token-level detection and sanitization using internal LLM attention.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Requires access to internal model representations.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Demonstrates attention-based IPI defense; our approach remains fully model-agnostic.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600" u="none" cap="none" strike="noStrike">
                          <a:solidFill>
                            <a:srgbClr val="EF4444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MELON (ICML 2025)</a:t>
                      </a:r>
                      <a:endParaRPr b="1" sz="600" u="none" cap="none" strike="noStrike">
                        <a:solidFill>
                          <a:srgbClr val="EF4444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Detects attacks through masked re-execution and comparison of agent tool calls.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Limited to tool-calling agents and doubles inference cost.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Complements our work by protecting execution, whereas we perform content-level detection before execution.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" sz="600" u="none" cap="none" strike="noStrike">
                          <a:solidFill>
                            <a:srgbClr val="10B98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Defending Against Indirect Prompt Injection By Instruction Detection (EMNLP Findings 2025)</a:t>
                      </a:r>
                      <a:r>
                        <a:rPr lang="en" sz="800" u="none" cap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Uses hidden states and gradients from intermediate LLM layers for instruction detection.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Requires internal representations and higher inference overhead.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Shows behavioral features are effective, while our method aims for lightweight CPU-friendly deployment.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600" u="none" cap="none" strike="noStrike">
                          <a:solidFill>
                            <a:srgbClr val="0033CC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Take Off Your Disguise: Detecting Prompt-Based Jailbreak Attacks in LLMS (IEEE TCSS 2026)</a:t>
                      </a:r>
                      <a:endParaRPr b="1" sz="600" u="none" cap="none" strike="noStrike">
                        <a:solidFill>
                          <a:srgbClr val="0033CC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68575" marB="68575" marR="68575" marL="6857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Uses LLM reasoning and prompt reconstruction to uncover disguised malicious intent.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Focuses on disguised jailbreaks and requires online LLM reasoning.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u="none" cap="none" strike="noStrike">
                          <a:solidFill>
                            <a:srgbClr val="333333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Motivates the use of teacher reasoning, which we distill into a lightweight ModernBERT model.</a:t>
                      </a:r>
                      <a:endParaRPr sz="600" u="none" cap="none" strike="noStrike">
                        <a:solidFill>
                          <a:srgbClr val="333333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8575" marB="6857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B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4" name="Google Shape;164;p16"/>
          <p:cNvSpPr txBox="1"/>
          <p:nvPr/>
        </p:nvSpPr>
        <p:spPr>
          <a:xfrm>
            <a:off x="0" y="0"/>
            <a:ext cx="4674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 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0" y="0"/>
            <a:ext cx="4674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Adaptive-IPI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3557" y="-2375"/>
            <a:ext cx="1347668" cy="621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/>
          <p:nvPr/>
        </p:nvSpPr>
        <p:spPr>
          <a:xfrm>
            <a:off x="1228725" y="1885950"/>
            <a:ext cx="6686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C:\Jan_may_2024\club\PES University - Logo - NEW.jpg" id="173" name="Google Shape;1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213" y="0"/>
            <a:ext cx="1202787" cy="61664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742950" y="3881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1" i="0" sz="33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3166110" y="188228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CDSAML &amp; CCBD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17"/>
          <p:cNvGrpSpPr/>
          <p:nvPr/>
        </p:nvGrpSpPr>
        <p:grpSpPr>
          <a:xfrm>
            <a:off x="476250" y="1333500"/>
            <a:ext cx="1905000" cy="3238500"/>
            <a:chOff x="0" y="0"/>
            <a:chExt cx="1905000" cy="3238500"/>
          </a:xfrm>
        </p:grpSpPr>
        <p:sp>
          <p:nvSpPr>
            <p:cNvPr id="177" name="Google Shape;177;p17"/>
            <p:cNvSpPr/>
            <p:nvPr/>
          </p:nvSpPr>
          <p:spPr>
            <a:xfrm>
              <a:off x="0" y="0"/>
              <a:ext cx="1905000" cy="32385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7"/>
            <p:cNvSpPr txBox="1"/>
            <p:nvPr/>
          </p:nvSpPr>
          <p:spPr>
            <a:xfrm>
              <a:off x="0" y="0"/>
              <a:ext cx="1905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PHASE 01</a:t>
              </a:r>
              <a:endParaRPr b="1" sz="10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Teacher-Guided Distillation</a:t>
              </a:r>
              <a:endParaRPr b="1" sz="1200">
                <a:solidFill>
                  <a:srgbClr val="ED7D3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 frozen, offline Qwen teacher supervises the ModernBERT-Base student using soft probability distributions and binary labels over the BIPIA Email QA training set, combining supervised classification with soft-label alignment.</a:t>
              </a:r>
              <a:endParaRPr b="0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17"/>
          <p:cNvGrpSpPr/>
          <p:nvPr/>
        </p:nvGrpSpPr>
        <p:grpSpPr>
          <a:xfrm>
            <a:off x="2571750" y="1333500"/>
            <a:ext cx="1905000" cy="3238500"/>
            <a:chOff x="0" y="0"/>
            <a:chExt cx="1905000" cy="3238500"/>
          </a:xfrm>
        </p:grpSpPr>
        <p:sp>
          <p:nvSpPr>
            <p:cNvPr id="180" name="Google Shape;180;p17"/>
            <p:cNvSpPr/>
            <p:nvPr/>
          </p:nvSpPr>
          <p:spPr>
            <a:xfrm>
              <a:off x="0" y="0"/>
              <a:ext cx="1905000" cy="32385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0" y="0"/>
              <a:ext cx="1905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PHASE 02</a:t>
              </a:r>
              <a:endParaRPr b="1" sz="10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Adaptive Curriculum</a:t>
              </a:r>
              <a:endParaRPr b="1" sz="1200">
                <a:solidFill>
                  <a:srgbClr val="ED7D3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After the initial student converges, validation failures are analyzed and supplied to the frozen teacher, which generates targeted hard-negative examples for a single adaptive refinement stage.</a:t>
              </a:r>
              <a:endParaRPr b="0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4667250" y="1333500"/>
            <a:ext cx="1905000" cy="3238500"/>
            <a:chOff x="0" y="0"/>
            <a:chExt cx="1905000" cy="3238500"/>
          </a:xfrm>
        </p:grpSpPr>
        <p:sp>
          <p:nvSpPr>
            <p:cNvPr id="183" name="Google Shape;183;p17"/>
            <p:cNvSpPr/>
            <p:nvPr/>
          </p:nvSpPr>
          <p:spPr>
            <a:xfrm>
              <a:off x="0" y="0"/>
              <a:ext cx="1905000" cy="32385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7"/>
            <p:cNvSpPr txBox="1"/>
            <p:nvPr/>
          </p:nvSpPr>
          <p:spPr>
            <a:xfrm>
              <a:off x="0" y="0"/>
              <a:ext cx="1905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PHASE 03</a:t>
              </a:r>
              <a:endParaRPr b="1" sz="10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Distribution Expansion</a:t>
              </a:r>
              <a:endParaRPr b="1" sz="1200">
                <a:solidFill>
                  <a:srgbClr val="ED7D3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Curated enterprise Email QA-style communications from the Enron corpus (Enron250 / Enron500 / Enron1000) are added to the benign training distribution to reduce false positives on unseen enterprise communications.</a:t>
              </a:r>
              <a:endParaRPr b="0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17"/>
          <p:cNvGrpSpPr/>
          <p:nvPr/>
        </p:nvGrpSpPr>
        <p:grpSpPr>
          <a:xfrm>
            <a:off x="6762750" y="1333500"/>
            <a:ext cx="1905000" cy="3238500"/>
            <a:chOff x="0" y="0"/>
            <a:chExt cx="1905000" cy="3238500"/>
          </a:xfrm>
        </p:grpSpPr>
        <p:sp>
          <p:nvSpPr>
            <p:cNvPr id="186" name="Google Shape;186;p17"/>
            <p:cNvSpPr/>
            <p:nvPr/>
          </p:nvSpPr>
          <p:spPr>
            <a:xfrm>
              <a:off x="0" y="0"/>
              <a:ext cx="1905000" cy="32385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7"/>
            <p:cNvSpPr txBox="1"/>
            <p:nvPr/>
          </p:nvSpPr>
          <p:spPr>
            <a:xfrm>
              <a:off x="0" y="0"/>
              <a:ext cx="1905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PHASE 04</a:t>
              </a:r>
              <a:endParaRPr b="1" sz="10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Inference Pipeline</a:t>
              </a:r>
              <a:endParaRPr b="1" sz="1200">
                <a:solidFill>
                  <a:srgbClr val="ED7D3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Only the lightweight ModernBERT-Base student is used at deployment; retrieved emails are tokenized and classified as Benign or Indirect Prompt Injection before reaching the downstream Email QA LLM.</a:t>
              </a:r>
              <a:endParaRPr b="0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" name="Google Shape;188;p17"/>
          <p:cNvSpPr txBox="1"/>
          <p:nvPr/>
        </p:nvSpPr>
        <p:spPr>
          <a:xfrm>
            <a:off x="0" y="0"/>
            <a:ext cx="4674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 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0" y="0"/>
            <a:ext cx="4674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Adaptive-IPI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3557" y="-2375"/>
            <a:ext cx="1347668" cy="621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C:\Jan_may_2024\club\PES University - Logo - NEW.jpg" id="196" name="Google Shape;19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213" y="0"/>
            <a:ext cx="1202787" cy="61664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742950" y="3881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1" i="0" sz="33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3166110" y="18822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CDSAML &amp; CCBD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4350" y="1144780"/>
            <a:ext cx="5543892" cy="372347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0" y="0"/>
            <a:ext cx="4674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 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0" y="0"/>
            <a:ext cx="4674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Adaptive-IPI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3557" y="-2375"/>
            <a:ext cx="1347668" cy="621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0" y="0"/>
            <a:ext cx="4674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 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Jan_may_2024\club\PES University - Logo - NEW.jpg" id="209" name="Google Shape;2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213" y="0"/>
            <a:ext cx="1202787" cy="61664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764051" y="64136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Datasets used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3166110" y="188228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CDSAML &amp; CCBD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2" name="Google Shape;212;p19"/>
          <p:cNvGrpSpPr/>
          <p:nvPr/>
        </p:nvGrpSpPr>
        <p:grpSpPr>
          <a:xfrm>
            <a:off x="523875" y="1333500"/>
            <a:ext cx="2571900" cy="3238500"/>
            <a:chOff x="0" y="0"/>
            <a:chExt cx="2571900" cy="3238500"/>
          </a:xfrm>
        </p:grpSpPr>
        <p:sp>
          <p:nvSpPr>
            <p:cNvPr id="213" name="Google Shape;213;p19"/>
            <p:cNvSpPr/>
            <p:nvPr/>
          </p:nvSpPr>
          <p:spPr>
            <a:xfrm>
              <a:off x="0" y="0"/>
              <a:ext cx="2571900" cy="32385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9"/>
            <p:cNvSpPr txBox="1"/>
            <p:nvPr/>
          </p:nvSpPr>
          <p:spPr>
            <a:xfrm>
              <a:off x="0" y="0"/>
              <a:ext cx="2571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DATASET 01</a:t>
              </a:r>
              <a:endParaRPr b="1" sz="10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BIPIA Email QA Benchmark</a:t>
              </a:r>
              <a:endParaRPr b="1" sz="1300">
                <a:solidFill>
                  <a:srgbClr val="ED7D3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Official train, validation, and held-out test partitions containing benign enterprise emails together with indirect prompt injection attacks designed for Email QA systems.</a:t>
              </a:r>
              <a:endParaRPr b="0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19"/>
          <p:cNvGrpSpPr/>
          <p:nvPr/>
        </p:nvGrpSpPr>
        <p:grpSpPr>
          <a:xfrm>
            <a:off x="3286125" y="1333500"/>
            <a:ext cx="2571900" cy="3238500"/>
            <a:chOff x="0" y="0"/>
            <a:chExt cx="2571900" cy="3238500"/>
          </a:xfrm>
        </p:grpSpPr>
        <p:sp>
          <p:nvSpPr>
            <p:cNvPr id="216" name="Google Shape;216;p19"/>
            <p:cNvSpPr/>
            <p:nvPr/>
          </p:nvSpPr>
          <p:spPr>
            <a:xfrm>
              <a:off x="0" y="0"/>
              <a:ext cx="2571900" cy="32385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0" y="0"/>
              <a:ext cx="2571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DATASET 02</a:t>
              </a:r>
              <a:endParaRPr b="1" sz="10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Benign Distribution (Enron)</a:t>
              </a:r>
              <a:endParaRPr b="1" sz="1300">
                <a:solidFill>
                  <a:srgbClr val="ED7D3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Curated enterprise Email QA-style communications extracted from the Enron corpus, with controlled augmentation sets of 250, 500, and 1000 benign emails (Enron250 / Enron500 / Enron1000) for ablation experiments.</a:t>
              </a:r>
              <a:endParaRPr b="0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19"/>
          <p:cNvGrpSpPr/>
          <p:nvPr/>
        </p:nvGrpSpPr>
        <p:grpSpPr>
          <a:xfrm>
            <a:off x="6048375" y="1333500"/>
            <a:ext cx="2571900" cy="3238500"/>
            <a:chOff x="0" y="0"/>
            <a:chExt cx="2571900" cy="3238500"/>
          </a:xfrm>
        </p:grpSpPr>
        <p:sp>
          <p:nvSpPr>
            <p:cNvPr id="219" name="Google Shape;219;p19"/>
            <p:cNvSpPr/>
            <p:nvPr/>
          </p:nvSpPr>
          <p:spPr>
            <a:xfrm>
              <a:off x="0" y="0"/>
              <a:ext cx="2571900" cy="32385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9"/>
            <p:cNvSpPr txBox="1"/>
            <p:nvPr/>
          </p:nvSpPr>
          <p:spPr>
            <a:xfrm>
              <a:off x="0" y="0"/>
              <a:ext cx="2571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DATASET 03</a:t>
              </a:r>
              <a:endParaRPr b="1" sz="10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Out-of-Distribution Sets</a:t>
              </a:r>
              <a:endParaRPr b="1" sz="1300">
                <a:solidFill>
                  <a:srgbClr val="ED7D3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 disjoint held-out Enron subset (duplicates and near-duplicates removed) and exploratory handcrafted benign prompts, used to evaluate robustness beyond the benchmark distribution.</a:t>
              </a:r>
              <a:endParaRPr b="0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19"/>
          <p:cNvSpPr txBox="1"/>
          <p:nvPr/>
        </p:nvSpPr>
        <p:spPr>
          <a:xfrm>
            <a:off x="0" y="0"/>
            <a:ext cx="4674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Adaptive-IPI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3557" y="-2375"/>
            <a:ext cx="1347668" cy="621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/>
          <p:nvPr/>
        </p:nvSpPr>
        <p:spPr>
          <a:xfrm>
            <a:off x="1228725" y="1885950"/>
            <a:ext cx="6686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0" y="0"/>
            <a:ext cx="4674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Adaptive-IPI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Jan_may_2024\club\PES University - Logo - NEW.jpg" id="230" name="Google Shape;2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213" y="0"/>
            <a:ext cx="1202787" cy="61664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764051" y="64136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" name="Google Shape;232;p20"/>
          <p:cNvGrpSpPr/>
          <p:nvPr/>
        </p:nvGrpSpPr>
        <p:grpSpPr>
          <a:xfrm>
            <a:off x="523875" y="1333500"/>
            <a:ext cx="2571900" cy="3238500"/>
            <a:chOff x="0" y="0"/>
            <a:chExt cx="2571900" cy="3238500"/>
          </a:xfrm>
        </p:grpSpPr>
        <p:sp>
          <p:nvSpPr>
            <p:cNvPr id="233" name="Google Shape;233;p20"/>
            <p:cNvSpPr/>
            <p:nvPr/>
          </p:nvSpPr>
          <p:spPr>
            <a:xfrm>
              <a:off x="0" y="0"/>
              <a:ext cx="2571900" cy="32385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0"/>
            <p:cNvSpPr txBox="1"/>
            <p:nvPr/>
          </p:nvSpPr>
          <p:spPr>
            <a:xfrm>
              <a:off x="0" y="0"/>
              <a:ext cx="2571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TECHNOLOGIES 01</a:t>
              </a:r>
              <a:endParaRPr b="1" sz="10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Models</a:t>
              </a:r>
              <a:endParaRPr b="1" sz="10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Qwen:</a:t>
              </a:r>
              <a:r>
                <a:rPr b="0"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Frozen teacher used for offline annotation and hard-negative generation.</a:t>
              </a:r>
              <a:endParaRPr b="0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ModernBERT-Base:</a:t>
              </a:r>
              <a:r>
                <a:rPr b="0"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Lightweight student model deployed for inference.</a:t>
              </a:r>
              <a:endParaRPr b="0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" name="Google Shape;235;p20"/>
          <p:cNvSpPr txBox="1"/>
          <p:nvPr/>
        </p:nvSpPr>
        <p:spPr>
          <a:xfrm>
            <a:off x="3166110" y="188228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CDSAML &amp; CCBD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20"/>
          <p:cNvGrpSpPr/>
          <p:nvPr/>
        </p:nvGrpSpPr>
        <p:grpSpPr>
          <a:xfrm>
            <a:off x="3286125" y="1333500"/>
            <a:ext cx="2571900" cy="3238500"/>
            <a:chOff x="0" y="0"/>
            <a:chExt cx="2571900" cy="3238500"/>
          </a:xfrm>
        </p:grpSpPr>
        <p:sp>
          <p:nvSpPr>
            <p:cNvPr id="237" name="Google Shape;237;p20"/>
            <p:cNvSpPr/>
            <p:nvPr/>
          </p:nvSpPr>
          <p:spPr>
            <a:xfrm>
              <a:off x="0" y="0"/>
              <a:ext cx="2571900" cy="32385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0"/>
            <p:cNvSpPr txBox="1"/>
            <p:nvPr/>
          </p:nvSpPr>
          <p:spPr>
            <a:xfrm>
              <a:off x="0" y="0"/>
              <a:ext cx="2571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TECHNOLOGIES 02</a:t>
              </a:r>
              <a:endParaRPr b="1" sz="10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Frameworks &amp; Hardware</a:t>
              </a:r>
              <a:endParaRPr b="1" sz="10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Core Stack:</a:t>
              </a:r>
              <a:r>
                <a:rPr b="0"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Built using Python, PyTorch, and Hugging Face Transformers.</a:t>
              </a:r>
              <a:endParaRPr b="0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Hardware:</a:t>
              </a:r>
              <a:r>
                <a:rPr b="0"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Training performed on Apple Silicon using the Metal Performance Shaders (MPS) backend.</a:t>
              </a:r>
              <a:endParaRPr b="0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20"/>
          <p:cNvGrpSpPr/>
          <p:nvPr/>
        </p:nvGrpSpPr>
        <p:grpSpPr>
          <a:xfrm>
            <a:off x="6048375" y="1333500"/>
            <a:ext cx="2571900" cy="3238500"/>
            <a:chOff x="0" y="0"/>
            <a:chExt cx="2571900" cy="3238500"/>
          </a:xfrm>
        </p:grpSpPr>
        <p:sp>
          <p:nvSpPr>
            <p:cNvPr id="240" name="Google Shape;240;p20"/>
            <p:cNvSpPr/>
            <p:nvPr/>
          </p:nvSpPr>
          <p:spPr>
            <a:xfrm>
              <a:off x="0" y="0"/>
              <a:ext cx="2571900" cy="32385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 txBox="1"/>
            <p:nvPr/>
          </p:nvSpPr>
          <p:spPr>
            <a:xfrm>
              <a:off x="0" y="0"/>
              <a:ext cx="2571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TECHNOLOGIES 03</a:t>
              </a:r>
              <a:endParaRPr b="1" sz="10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Deployment</a:t>
              </a:r>
              <a:endParaRPr b="1" sz="10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Pipeline:</a:t>
              </a:r>
              <a:r>
                <a:rPr b="0"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FastAPI-based serving pipeline.</a:t>
              </a:r>
              <a:endParaRPr b="0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Performance:</a:t>
              </a:r>
              <a:r>
                <a:rPr b="0"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Tailored for real-time, low-latency prompt injection filtering.</a:t>
              </a:r>
              <a:endParaRPr b="0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2" name="Google Shape;2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3557" y="-2375"/>
            <a:ext cx="1347668" cy="621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0" y="0"/>
            <a:ext cx="4674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Adaptive-IPI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Jan_may_2024\club\PES University - Logo - NEW.jpg" id="249" name="Google Shape;2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213" y="0"/>
            <a:ext cx="1202787" cy="616647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764051" y="64136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23875" y="1333500"/>
            <a:ext cx="3762300" cy="3238500"/>
          </a:xfrm>
          <a:prstGeom prst="roundRect">
            <a:avLst>
              <a:gd fmla="val 2352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3166110" y="188228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CDSAML &amp; CCBD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" name="Google Shape;253;p21"/>
          <p:cNvGrpSpPr/>
          <p:nvPr/>
        </p:nvGrpSpPr>
        <p:grpSpPr>
          <a:xfrm>
            <a:off x="523875" y="1333500"/>
            <a:ext cx="3762300" cy="666900"/>
            <a:chOff x="0" y="0"/>
            <a:chExt cx="3762300" cy="666900"/>
          </a:xfrm>
        </p:grpSpPr>
        <p:sp>
          <p:nvSpPr>
            <p:cNvPr id="254" name="Google Shape;254;p21"/>
            <p:cNvSpPr/>
            <p:nvPr/>
          </p:nvSpPr>
          <p:spPr>
            <a:xfrm>
              <a:off x="0" y="0"/>
              <a:ext cx="37623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1"/>
            <p:cNvSpPr txBox="1"/>
            <p:nvPr/>
          </p:nvSpPr>
          <p:spPr>
            <a:xfrm>
              <a:off x="0" y="0"/>
              <a:ext cx="37623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Performance</a:t>
              </a:r>
              <a:endParaRPr b="1" sz="833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1" lang="en" sz="1203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BIPIA Email QA Benchmark (Held-out Test Set)</a:t>
              </a:r>
              <a:endParaRPr b="1" sz="833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256" name="Google Shape;256;p21"/>
          <p:cNvGrpSpPr/>
          <p:nvPr/>
        </p:nvGrpSpPr>
        <p:grpSpPr>
          <a:xfrm>
            <a:off x="714375" y="2047875"/>
            <a:ext cx="1619100" cy="2333700"/>
            <a:chOff x="0" y="0"/>
            <a:chExt cx="1619100" cy="2333700"/>
          </a:xfrm>
        </p:grpSpPr>
        <p:sp>
          <p:nvSpPr>
            <p:cNvPr id="257" name="Google Shape;257;p21"/>
            <p:cNvSpPr/>
            <p:nvPr/>
          </p:nvSpPr>
          <p:spPr>
            <a:xfrm>
              <a:off x="0" y="0"/>
              <a:ext cx="1619100" cy="2333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1"/>
            <p:cNvSpPr txBox="1"/>
            <p:nvPr/>
          </p:nvSpPr>
          <p:spPr>
            <a:xfrm>
              <a:off x="0" y="0"/>
              <a:ext cx="1619100" cy="2333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ACCURACY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96.54%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PRECISION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99.57%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RECALL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96.81%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" name="Google Shape;259;p21"/>
          <p:cNvGrpSpPr/>
          <p:nvPr/>
        </p:nvGrpSpPr>
        <p:grpSpPr>
          <a:xfrm>
            <a:off x="2476500" y="2047875"/>
            <a:ext cx="1619100" cy="2333700"/>
            <a:chOff x="0" y="0"/>
            <a:chExt cx="1619100" cy="2333700"/>
          </a:xfrm>
        </p:grpSpPr>
        <p:sp>
          <p:nvSpPr>
            <p:cNvPr id="260" name="Google Shape;260;p21"/>
            <p:cNvSpPr/>
            <p:nvPr/>
          </p:nvSpPr>
          <p:spPr>
            <a:xfrm>
              <a:off x="0" y="0"/>
              <a:ext cx="1619100" cy="2333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1"/>
            <p:cNvSpPr txBox="1"/>
            <p:nvPr/>
          </p:nvSpPr>
          <p:spPr>
            <a:xfrm>
              <a:off x="0" y="0"/>
              <a:ext cx="1619100" cy="2333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F1-SCORE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98.17%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AUROC / AUPRC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98.01% </a:t>
              </a:r>
              <a:r>
                <a:rPr b="0" lang="en" sz="110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/ 99.91%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ENTERPRISE OOD FPR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0.00%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2" name="Google Shape;262;p21"/>
          <p:cNvSpPr/>
          <p:nvPr/>
        </p:nvSpPr>
        <p:spPr>
          <a:xfrm>
            <a:off x="4476750" y="1333500"/>
            <a:ext cx="4143300" cy="3238500"/>
          </a:xfrm>
          <a:prstGeom prst="roundRect">
            <a:avLst>
              <a:gd fmla="val 2352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3" name="Google Shape;263;p21"/>
          <p:cNvGrpSpPr/>
          <p:nvPr/>
        </p:nvGrpSpPr>
        <p:grpSpPr>
          <a:xfrm>
            <a:off x="4476750" y="1333500"/>
            <a:ext cx="4143300" cy="3238500"/>
            <a:chOff x="0" y="0"/>
            <a:chExt cx="4143300" cy="3238500"/>
          </a:xfrm>
        </p:grpSpPr>
        <p:sp>
          <p:nvSpPr>
            <p:cNvPr id="264" name="Google Shape;264;p21"/>
            <p:cNvSpPr/>
            <p:nvPr/>
          </p:nvSpPr>
          <p:spPr>
            <a:xfrm>
              <a:off x="0" y="0"/>
              <a:ext cx="4143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1"/>
            <p:cNvSpPr txBox="1"/>
            <p:nvPr/>
          </p:nvSpPr>
          <p:spPr>
            <a:xfrm>
              <a:off x="0" y="0"/>
              <a:ext cx="4143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4472C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Insights</a:t>
              </a:r>
              <a:endParaRPr b="1" sz="9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Key Findings</a:t>
              </a:r>
              <a:endParaRPr b="1" sz="9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D7D31"/>
                  </a:solidFill>
                  <a:latin typeface="Arial"/>
                  <a:ea typeface="Arial"/>
                  <a:cs typeface="Arial"/>
                  <a:sym typeface="Arial"/>
                </a:rPr>
                <a:t>Adaptive Curriculum: </a:t>
              </a:r>
              <a:r>
                <a:rPr b="0"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Teacher-guided hard-negative refinement improved the lightweight student's ability to distinguish indirect prompt injection attacks through targeted failure-driven supervision.</a:t>
              </a:r>
              <a:endParaRPr b="1" sz="9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472C4"/>
                  </a:solidFill>
                  <a:latin typeface="Arial"/>
                  <a:ea typeface="Arial"/>
                  <a:cs typeface="Arial"/>
                  <a:sym typeface="Arial"/>
                </a:rPr>
                <a:t>Benign Distribution Expansion: </a:t>
              </a:r>
              <a:r>
                <a:rPr b="0"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Adding 1,000 curated Enron enterprise emails reduced the held-out Enterprise False Positive Rate from 98.81% to 0.00% while maintaining strong benchmark performance.</a:t>
              </a:r>
              <a:endParaRPr b="1" sz="9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472C4"/>
                  </a:solidFill>
                  <a:latin typeface="Arial"/>
                  <a:ea typeface="Arial"/>
                  <a:cs typeface="Arial"/>
                  <a:sym typeface="Arial"/>
                </a:rPr>
                <a:t>Reproducibility: </a:t>
              </a:r>
              <a:r>
                <a:rPr b="0" lang="en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Multi-seed evaluation (Seeds 42–44) produced consistent results with a mean F1-score of 97.85% and 0.00% Enterprise OOD False Positive Rate across all evaluated seeds.</a:t>
              </a:r>
              <a:endParaRPr b="1" sz="9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266" name="Google Shape;26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3557" y="-2375"/>
            <a:ext cx="1347668" cy="621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 txBox="1"/>
          <p:nvPr/>
        </p:nvSpPr>
        <p:spPr>
          <a:xfrm>
            <a:off x="1228725" y="1885950"/>
            <a:ext cx="6686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397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2" name="Google Shape;27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0" y="0"/>
            <a:ext cx="4674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Adaptive-IPI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Jan_may_2024\club\PES University - Logo - NEW.jpg" id="274" name="Google Shape;2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213" y="0"/>
            <a:ext cx="1202787" cy="61664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764051" y="64136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Conclusion and Future Work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3166110" y="188228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CDSAML &amp; CCBD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523875" y="1333500"/>
            <a:ext cx="3952800" cy="3238500"/>
          </a:xfrm>
          <a:prstGeom prst="roundRect">
            <a:avLst>
              <a:gd fmla="val 2352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523875" y="1333500"/>
            <a:ext cx="39528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b="1" sz="1000">
              <a:solidFill>
                <a:srgbClr val="4472C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Takeaways</a:t>
            </a:r>
            <a:endParaRPr b="1" sz="1400">
              <a:solidFill>
                <a:srgbClr val="ED7D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5275" lvl="0" marL="457200" rtl="0" algn="l"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●"/>
            </a:pPr>
            <a:r>
              <a:rPr b="1" lang="en" sz="10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Adaptive-IPI:</a:t>
            </a:r>
            <a:r>
              <a:rPr lang="en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Pairs teacher-guided knowledge distillation with a single adaptive hard-negative refinement stage, letting a frozen teacher target the compact ModernBERT-Base student’s own failure modes without adding inference-time cost.</a:t>
            </a:r>
            <a:endParaRPr sz="105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●"/>
            </a:pPr>
            <a:r>
              <a:rPr b="1" lang="en" sz="10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Distribution Expansion:</a:t>
            </a:r>
            <a:r>
              <a:rPr lang="en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Curated enterprise Email QA communications considerably improve robustness to unseen enterprise communications while preserving strong benchmark performance.</a:t>
            </a:r>
            <a:endParaRPr sz="105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4667250" y="1333500"/>
            <a:ext cx="3952800" cy="3238500"/>
          </a:xfrm>
          <a:prstGeom prst="roundRect">
            <a:avLst>
              <a:gd fmla="val 2352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4667250" y="1333500"/>
            <a:ext cx="39528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472C4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Work</a:t>
            </a:r>
            <a:endParaRPr b="1" sz="1000">
              <a:solidFill>
                <a:srgbClr val="4472C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Trebuchet MS"/>
                <a:ea typeface="Trebuchet MS"/>
                <a:cs typeface="Trebuchet MS"/>
                <a:sym typeface="Trebuchet MS"/>
              </a:rPr>
              <a:t>Next Steps &amp; Research</a:t>
            </a:r>
            <a:endParaRPr b="1" sz="1400">
              <a:solidFill>
                <a:srgbClr val="ED7D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Benchmarks:</a:t>
            </a:r>
            <a:r>
              <a:rPr lang="en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Evaluate the framework on additional Email QA benchmarks and enterprise communication corpora.</a:t>
            </a:r>
            <a:endParaRPr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Calibration:</a:t>
            </a:r>
            <a:r>
              <a:rPr lang="en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Investigate confidence calibration techniques such as post-hoc temperature scaling.</a:t>
            </a:r>
            <a:endParaRPr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Refinement:</a:t>
            </a:r>
            <a:r>
              <a:rPr lang="en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Explore multiple adaptive refinement iterations while preserving lightweight deployment.</a:t>
            </a:r>
            <a:endParaRPr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Defense Integration:</a:t>
            </a:r>
            <a:r>
              <a:rPr lang="en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Study integration with complementary defenses (intent reconstruction, retrieval verification).</a:t>
            </a:r>
            <a:endParaRPr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Extension:</a:t>
            </a:r>
            <a:r>
              <a:rPr lang="en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Extend the methodology to other retrieval-based LLM applications beyond Email QA.</a:t>
            </a:r>
            <a:endParaRPr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3557" y="-2375"/>
            <a:ext cx="1347668" cy="621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0" y="0"/>
            <a:ext cx="4674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Adaptive-IPI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Jan_may_2024\club\PES University - Logo - NEW.jpg" id="288" name="Google Shape;2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213" y="0"/>
            <a:ext cx="1202787" cy="61664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3"/>
          <p:cNvSpPr/>
          <p:nvPr/>
        </p:nvSpPr>
        <p:spPr>
          <a:xfrm>
            <a:off x="571500" y="1333500"/>
            <a:ext cx="8001000" cy="3143400"/>
          </a:xfrm>
          <a:prstGeom prst="roundRect">
            <a:avLst>
              <a:gd fmla="val 2424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764051" y="64136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" name="Google Shape;291;p23"/>
          <p:cNvGrpSpPr/>
          <p:nvPr/>
        </p:nvGrpSpPr>
        <p:grpSpPr>
          <a:xfrm>
            <a:off x="809625" y="1571625"/>
            <a:ext cx="3619500" cy="2667000"/>
            <a:chOff x="0" y="0"/>
            <a:chExt cx="3619500" cy="2667000"/>
          </a:xfrm>
        </p:grpSpPr>
        <p:sp>
          <p:nvSpPr>
            <p:cNvPr id="292" name="Google Shape;292;p23"/>
            <p:cNvSpPr/>
            <p:nvPr/>
          </p:nvSpPr>
          <p:spPr>
            <a:xfrm>
              <a:off x="0" y="0"/>
              <a:ext cx="36195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3"/>
            <p:cNvSpPr txBox="1"/>
            <p:nvPr/>
          </p:nvSpPr>
          <p:spPr>
            <a:xfrm>
              <a:off x="0" y="0"/>
              <a:ext cx="3619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[1]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“Can Indirect Prompt Injection Attacks Be Detected and Removed?,” </a:t>
              </a:r>
              <a:r>
                <a:rPr i="1" lang="en" sz="10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in Proc. ACL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, 2025.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[2]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“PIGuard,” </a:t>
              </a:r>
              <a:r>
                <a:rPr i="1" lang="en" sz="10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in Proc. ACL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, 2025.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[3]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“Performance-Guided LLM Knowledge Distillation for Efficient Text Classification at Scale,” </a:t>
              </a:r>
              <a:r>
                <a:rPr i="1" lang="en" sz="10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in Proc. EMNLP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, 2024.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[4]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“Attention is All You Need to Defend Against Indirect Prompt Injection Attacks in LLMs,” </a:t>
              </a:r>
              <a:r>
                <a:rPr i="1" lang="en" sz="10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in Proc. NDSS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, 2026.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p23"/>
          <p:cNvSpPr txBox="1"/>
          <p:nvPr/>
        </p:nvSpPr>
        <p:spPr>
          <a:xfrm>
            <a:off x="3166110" y="188228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CDSAML &amp; CCBD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5" name="Google Shape;295;p23"/>
          <p:cNvGrpSpPr/>
          <p:nvPr/>
        </p:nvGrpSpPr>
        <p:grpSpPr>
          <a:xfrm>
            <a:off x="4714875" y="1571625"/>
            <a:ext cx="3619500" cy="2667000"/>
            <a:chOff x="0" y="0"/>
            <a:chExt cx="3619500" cy="2667000"/>
          </a:xfrm>
        </p:grpSpPr>
        <p:sp>
          <p:nvSpPr>
            <p:cNvPr id="296" name="Google Shape;296;p23"/>
            <p:cNvSpPr/>
            <p:nvPr/>
          </p:nvSpPr>
          <p:spPr>
            <a:xfrm>
              <a:off x="0" y="0"/>
              <a:ext cx="36195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3"/>
            <p:cNvSpPr txBox="1"/>
            <p:nvPr/>
          </p:nvSpPr>
          <p:spPr>
            <a:xfrm>
              <a:off x="0" y="0"/>
              <a:ext cx="3619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[5]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“MELON,” </a:t>
              </a:r>
              <a:r>
                <a:rPr i="1" lang="en" sz="10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in Proc. ICML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, 2025.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[6]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“Defending Against Indirect Prompt Injection by Instruction Detection,” </a:t>
              </a:r>
              <a:r>
                <a:rPr i="1" lang="en" sz="10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in Findings of EMNLP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, 2025.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ED7D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[7]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“Take Off Your Disguise: Detecting Prompt-Based Jailbreak Attacks in LLMs,” </a:t>
              </a:r>
              <a:r>
                <a:rPr i="1" lang="en" sz="10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IEEE Trans. Comput. Soc. Syst. (TCSS)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, 2026.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8" name="Google Shape;2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3557" y="-2375"/>
            <a:ext cx="1347668" cy="621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 txBox="1"/>
          <p:nvPr>
            <p:ph type="title"/>
          </p:nvPr>
        </p:nvSpPr>
        <p:spPr>
          <a:xfrm>
            <a:off x="0" y="2190941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lang="en" sz="5000">
                <a:solidFill>
                  <a:schemeClr val="accent5"/>
                </a:solidFill>
              </a:rPr>
              <a:t>THANK YOU</a:t>
            </a:r>
            <a:endParaRPr sz="5400"/>
          </a:p>
        </p:txBody>
      </p:sp>
      <p:sp>
        <p:nvSpPr>
          <p:cNvPr id="304" name="Google Shape;30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57150" y="75402"/>
            <a:ext cx="132500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88888"/>
                </a:solidFill>
              </a:rPr>
              <a:t>Adaptive-IPI</a:t>
            </a:r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3166110" y="18822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CDSAML &amp; CCBD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Jan_may_2024\club\PES University - Logo - NEW.jpg" id="307" name="Google Shape;3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213" y="0"/>
            <a:ext cx="1202787" cy="61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3557" y="-2375"/>
            <a:ext cx="1347668" cy="621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